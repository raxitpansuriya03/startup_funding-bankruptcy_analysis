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Funding (USD B)</c:v>
                </c:pt>
              </c:strCache>
            </c:strRef>
          </c:tx>
          <c:spPr>
            <a:solidFill>
              <a:srgbClr val="0B3D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CleanTech</c:v>
                  </c:pt>
                  <c:pt idx="1">
                    <c:v>PropTech</c:v>
                  </c:pt>
                  <c:pt idx="2">
                    <c:v>BioTech</c:v>
                  </c:pt>
                  <c:pt idx="3">
                    <c:v>EdTech</c:v>
                  </c:pt>
                  <c:pt idx="4">
                    <c:v>FinTech</c:v>
                  </c:pt>
                  <c:pt idx="5">
                    <c:v>LegalTech</c:v>
                  </c:pt>
                  <c:pt idx="6">
                    <c:v>LogisticsTech</c:v>
                  </c:pt>
                  <c:pt idx="7">
                    <c:v>E-Commerce</c:v>
                  </c:pt>
                  <c:pt idx="8">
                    <c:v>HealthTech</c:v>
                  </c:pt>
                  <c:pt idx="9">
                    <c:v>CyberSecurity</c:v>
                  </c:pt>
                  <c:pt idx="10">
                    <c:v>GameTech</c:v>
                  </c:pt>
                  <c:pt idx="11">
                    <c:v>HRTech</c:v>
                  </c:pt>
                  <c:pt idx="12">
                    <c:v>AgriTech</c:v>
                  </c:pt>
                  <c:pt idx="13">
                    <c:v>SaaS</c:v>
                  </c:pt>
                  <c:pt idx="14">
                    <c:v>AI/ML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143.2</c:v>
                </c:pt>
                <c:pt idx="1">
                  <c:v>137.5</c:v>
                </c:pt>
                <c:pt idx="2">
                  <c:v>136.5</c:v>
                </c:pt>
                <c:pt idx="3">
                  <c:v>136.4</c:v>
                </c:pt>
                <c:pt idx="4">
                  <c:v>133.7</c:v>
                </c:pt>
                <c:pt idx="5">
                  <c:v>132.3</c:v>
                </c:pt>
                <c:pt idx="6">
                  <c:v>131.9</c:v>
                </c:pt>
                <c:pt idx="7">
                  <c:v>131.7</c:v>
                </c:pt>
                <c:pt idx="8">
                  <c:v>131.1</c:v>
                </c:pt>
                <c:pt idx="9">
                  <c:v>129.9</c:v>
                </c:pt>
                <c:pt idx="10">
                  <c:v>129.7</c:v>
                </c:pt>
                <c:pt idx="11">
                  <c:v>122.4</c:v>
                </c:pt>
                <c:pt idx="12">
                  <c:v>120.9</c:v>
                </c:pt>
                <c:pt idx="13">
                  <c:v>115.7</c:v>
                </c:pt>
                <c:pt idx="14">
                  <c:v>111.9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Arial"/>
                  </a:rPr>
                  <a:t>USD Billions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Startups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D66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F2A93B"/>
              </a:solidFill>
              <a:effectLst/>
            </c:spPr>
          </c:dPt>
          <c:dPt>
            <c:idx val="3"/>
            <c:bubble3D val="0"/>
            <c:spPr>
              <a:solidFill>
                <a:srgbClr val="9CA3AF"/>
              </a:solidFill>
              <a:effectLst/>
            </c:spPr>
          </c:dPt>
          <c:dPt>
            <c:idx val="4"/>
            <c:bubble3D val="0"/>
            <c:spPr>
              <a:solidFill>
                <a:srgbClr val="C6484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Active</c:v>
                </c:pt>
                <c:pt idx="1">
                  <c:v>Acquired</c:v>
                </c:pt>
                <c:pt idx="2">
                  <c:v>IPO</c:v>
                </c:pt>
                <c:pt idx="3">
                  <c:v>Inactive</c:v>
                </c:pt>
                <c:pt idx="4">
                  <c:v>Bankrupt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4726</c:v>
                </c:pt>
                <c:pt idx="1">
                  <c:v>2081</c:v>
                </c:pt>
                <c:pt idx="2">
                  <c:v>1031</c:v>
                </c:pt>
                <c:pt idx="3">
                  <c:v>1037</c:v>
                </c:pt>
                <c:pt idx="4">
                  <c:v>1625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6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F2A93B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FUNDING &amp; BANKRUPTCY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view of which industries, regions, and investors produce durable startups — and which don't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43484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806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Client Review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Raxit Pansuriya  ·  Data Analyst  ·  SQL · Python · Power BI · Tableau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0" y="68580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gets allocated on hype, not evidence.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7040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Investors, accelerators, and founder-support teams face the same recurring question: which industries, regions, and investor types actually produce durable startups — and which combinations tend to end in failure? Without a structured way to connect funding history to outcomes, that insight stays anecdotal.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0" y="3081528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3081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6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2990088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which industries convert funding into durable outcomes vs. failure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0" y="3950208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950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6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3858768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 signal 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investors with repeat exposure to startups that go bankrupt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0" y="4818888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4818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66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4727448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repeatable model 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review starts from scratch instead of a live, queryable dataset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Funding &amp; Bankruptcy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full startup lifecycle, then answer the questions that matter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75688"/>
            <a:ext cx="384048" cy="384048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capital flow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843784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funding deployed, broken down by industry, to see where the market is placing its bets.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16552" y="18745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075688"/>
            <a:ext cx="384048" cy="384048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256032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survival vs. closure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2843784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survival rate against bankruptcy/inactive rate as a headline health KPI.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84464" y="18745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13064" y="2075688"/>
            <a:ext cx="384048" cy="384048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16" name="Text 14"/>
          <p:cNvSpPr/>
          <p:nvPr/>
        </p:nvSpPr>
        <p:spPr>
          <a:xfrm>
            <a:off x="8513064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13064" y="256032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top performers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13064" y="2843784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Top-funded startups within each industry to spot capital concentration.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721608"/>
            <a:ext cx="384048" cy="384048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20624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investor risk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489704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which investors were exposed to startups that later went bankrupt.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16552" y="35204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3721608"/>
            <a:ext cx="384048" cy="384048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5152" y="420624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momentum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45152" y="4489704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and round-over-round funding growth per startup.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84464" y="35204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13064" y="3721608"/>
            <a:ext cx="384048" cy="384048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31" name="Text 29"/>
          <p:cNvSpPr/>
          <p:nvPr/>
        </p:nvSpPr>
        <p:spPr>
          <a:xfrm>
            <a:off x="8513064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13064" y="420624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repeatable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513064" y="4489704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SQL model, not a one-time spreadsheet snapshot.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Funding &amp; Bankruptcy Analysis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5-table relational model, 56,740+ rows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0B3D6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39112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10,500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715768"/>
            <a:ext cx="2139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tracked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25496" y="1874520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0B3D66"/>
          </a:solidFill>
          <a:ln/>
        </p:spPr>
      </p:sp>
      <p:sp>
        <p:nvSpPr>
          <p:cNvPr id="8" name="Text 6"/>
          <p:cNvSpPr/>
          <p:nvPr/>
        </p:nvSpPr>
        <p:spPr>
          <a:xfrm>
            <a:off x="2825496" y="2039112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25496" y="2715768"/>
            <a:ext cx="2139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02352" y="1874520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0B3D66"/>
          </a:solidFill>
          <a:ln/>
        </p:spPr>
      </p:sp>
      <p:sp>
        <p:nvSpPr>
          <p:cNvPr id="11" name="Text 9"/>
          <p:cNvSpPr/>
          <p:nvPr/>
        </p:nvSpPr>
        <p:spPr>
          <a:xfrm>
            <a:off x="5102352" y="2039112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33,615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102352" y="2715768"/>
            <a:ext cx="2139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rounds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79208" y="1874520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0B3D66"/>
          </a:solidFill>
          <a:ln/>
        </p:spPr>
      </p:sp>
      <p:sp>
        <p:nvSpPr>
          <p:cNvPr id="14" name="Text 12"/>
          <p:cNvSpPr/>
          <p:nvPr/>
        </p:nvSpPr>
        <p:spPr>
          <a:xfrm>
            <a:off x="7379208" y="2039112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$1.94T+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79208" y="2715768"/>
            <a:ext cx="2139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56064" y="1874520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0B3D66"/>
          </a:solidFill>
          <a:ln/>
        </p:spPr>
      </p:sp>
      <p:sp>
        <p:nvSpPr>
          <p:cNvPr id="17" name="Text 15"/>
          <p:cNvSpPr/>
          <p:nvPr/>
        </p:nvSpPr>
        <p:spPr>
          <a:xfrm>
            <a:off x="9656064" y="2039112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56064" y="2715768"/>
            <a:ext cx="2139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· Countries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64240" cy="265176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7680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Industry, country, region, city, founded year,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name, type (VC / Angel / PE / etc.), country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33,615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round — date, round type, amount, investor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bankruptcy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Bankruptcy date, reason, funding raised before closure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closure_reason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Closure/status reason mapped to every startup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Funding &amp; Bankruptcy Analysis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</a:t>
            </a:r>
            <a:endParaRPr lang="en-US" sz="2400" dirty="0"/>
          </a:p>
        </p:txBody>
      </p:sp>
      <p:pic>
        <p:nvPicPr>
          <p:cNvPr id="4" name="Image 0" descr="../startup-lite/images/er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691640"/>
            <a:ext cx="8229600" cy="4590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Funding &amp; Bankruptcy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CleanTech, PropTech &amp; BioTech lead total funding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8638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783080"/>
            <a:ext cx="2971800" cy="4389120"/>
          </a:xfrm>
          <a:prstGeom prst="roundRect">
            <a:avLst>
              <a:gd name="adj" fmla="val 2462"/>
            </a:avLst>
          </a:prstGeom>
          <a:solidFill>
            <a:srgbClr val="F5F7FA"/>
          </a:solidFill>
          <a:ln/>
        </p:spPr>
      </p:sp>
      <p:sp>
        <p:nvSpPr>
          <p:cNvPr id="6" name="Text 3"/>
          <p:cNvSpPr/>
          <p:nvPr/>
        </p:nvSpPr>
        <p:spPr>
          <a:xfrm>
            <a:off x="891540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915400" y="2377440"/>
            <a:ext cx="2560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is concentrated in CleanTech ($143B), PropTech ($138B), and BioTech ($136B) — ahead of more "hyped" categories like AI/ML ($112B). That's a signal for where the market has historically placed conviction bets, not just headlines.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Funding &amp; Bankruptcy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 of tracked startups reach a durable outcome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56692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920240"/>
            <a:ext cx="146304" cy="548640"/>
          </a:xfrm>
          <a:prstGeom prst="rect">
            <a:avLst/>
          </a:prstGeom>
          <a:solidFill>
            <a:srgbClr val="0B3D66"/>
          </a:solidFill>
          <a:ln/>
        </p:spPr>
      </p:sp>
      <p:sp>
        <p:nvSpPr>
          <p:cNvPr id="6" name="Text 3"/>
          <p:cNvSpPr/>
          <p:nvPr/>
        </p:nvSpPr>
        <p:spPr>
          <a:xfrm>
            <a:off x="699516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45.0%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99516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20840" y="2788920"/>
            <a:ext cx="146304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699516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19.8%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99516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720840" y="3657600"/>
            <a:ext cx="146304" cy="5486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699516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99516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20840" y="4526280"/>
            <a:ext cx="146304" cy="548640"/>
          </a:xfrm>
          <a:prstGeom prst="rect">
            <a:avLst/>
          </a:prstGeom>
          <a:solidFill>
            <a:srgbClr val="C6484F"/>
          </a:solidFill>
          <a:ln/>
        </p:spPr>
      </p:sp>
      <p:sp>
        <p:nvSpPr>
          <p:cNvPr id="15" name="Text 12"/>
          <p:cNvSpPr/>
          <p:nvPr/>
        </p:nvSpPr>
        <p:spPr>
          <a:xfrm>
            <a:off x="699516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25.4%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99516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(Inactive + Bankrupt)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720840" y="5532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 (Active + Acquired + IPO) sits at ~75%, giving a reassuring baseline health metric — but the remaining 25% closure rate is exactly where investor risk and industry weakness concentrate.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Funding &amp; Bankruptcy Analysis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investors carry repeat exposure to bankrupt startups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joining investors → funding → startups → bankruptcy, the model surfaces exactly which investors backed a company that later filed for bankruptcy — and why. This turns a vague reputational hunch into a concrete, queryable due-diligence signal that can be re-run on every new funding round.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6400800" cy="2194560"/>
          </a:xfrm>
          <a:prstGeom prst="roundRect">
            <a:avLst>
              <a:gd name="adj" fmla="val 3333"/>
            </a:avLst>
          </a:prstGeom>
          <a:solidFill>
            <a:srgbClr val="0E4A7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148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1,625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bankruptcy records — each traceable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every investor who funded 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49040" y="4114800"/>
            <a:ext cx="0" cy="1737360"/>
          </a:xfrm>
          <a:prstGeom prst="line">
            <a:avLst/>
          </a:prstGeom>
          <a:noFill/>
          <a:ln w="12700">
            <a:solidFill>
              <a:srgbClr val="2A659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77640" y="44805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Investors Who Invested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Bankrupt Startups" — a single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query, reusable on demand.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0" y="1463040"/>
            <a:ext cx="4206240" cy="4206240"/>
          </a:xfrm>
          <a:prstGeom prst="ellipse">
            <a:avLst/>
          </a:prstGeom>
          <a:solidFill>
            <a:srgbClr val="0E4A7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2148840"/>
            <a:ext cx="2834640" cy="2834640"/>
          </a:xfrm>
          <a:prstGeom prst="ellipse">
            <a:avLst/>
          </a:prstGeom>
          <a:solidFill>
            <a:srgbClr val="0B3D66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14884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bankruptcy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Funding &amp; Bankruptcy Analysis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ecosystem is healthier than headlines suggest — but capital and risk are unevenly distributed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0E4A7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9718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tracked startups reach a durable outcome — active, acquired, or IPO'd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16552" y="2743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0E4A78"/>
          </a:solidFill>
          <a:ln/>
        </p:spPr>
      </p:sp>
      <p:sp>
        <p:nvSpPr>
          <p:cNvPr id="8" name="Text 6"/>
          <p:cNvSpPr/>
          <p:nvPr/>
        </p:nvSpPr>
        <p:spPr>
          <a:xfrm>
            <a:off x="4690872" y="29718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industries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90872" y="365760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CleanTech, PropTech, BioTech absorb the largest share of capital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84464" y="2743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0E4A78"/>
          </a:solidFill>
          <a:ln/>
        </p:spPr>
      </p:sp>
      <p:sp>
        <p:nvSpPr>
          <p:cNvPr id="11" name="Text 9"/>
          <p:cNvSpPr/>
          <p:nvPr/>
        </p:nvSpPr>
        <p:spPr>
          <a:xfrm>
            <a:off x="8558784" y="29718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live model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558784" y="365760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static spreadsheet reporting with repeatable, query-driven KPIs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SQL model turns "how are our startups doing?" into a live, recomputable answer — total funding, survival rate, top performers per industry, and investor risk exposure, on demand.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Funding &amp; Bankruptcy Analysis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84248"/>
            <a:ext cx="9784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capital allocation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new investment toward industries with both high funding density and high survival rate — not most-funded alone.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291840"/>
            <a:ext cx="548640" cy="54864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172968"/>
            <a:ext cx="9784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high-risk investors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repeat exposure to bankrupt startups as a standing due-diligence check on new deals.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4361688"/>
            <a:ext cx="9784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growth momentum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round-over-round growth-rate query as an early warning signal for flattening startups.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5669280"/>
            <a:ext cx="548640" cy="54864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669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5550408"/>
            <a:ext cx="9784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model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post-bankruptcy outcome data (founder re-entry, asset acquisition) to move from a lagging report to a predictive one.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Funding &amp; Bankruptcy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402336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43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Raxit Pansuriya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· SQL · Python · Power BI · Tableau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github.com/RaxitPansuriya03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2026-08-11T06:31:06Z</dcterms:created>
  <dcterms:modified xsi:type="dcterms:W3CDTF">2026-08-11T06:31:06Z</dcterms:modified>
</cp:coreProperties>
</file>